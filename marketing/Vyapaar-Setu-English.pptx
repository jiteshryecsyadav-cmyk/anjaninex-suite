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njaninex-logo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86984" y="868680"/>
            <a:ext cx="1485370" cy="1188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2468880"/>
            <a:ext cx="10360152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5200" b="1" i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Vyapaar Setu</a:t>
            </a:r>
            <a:endParaRPr sz="5200" b="1" i="0">
              <a:solidFill>
                <a:srgbClr val="FFFFFF"/>
              </a:solidFill>
              <a:latin typeface="Cambria" panose="02040503050406030204"/>
              <a:cs typeface="Cambria" panose="02040503050406030204"/>
            </a:endParaRPr>
          </a:p>
          <a:p>
            <a:pPr algn="ctr">
              <a:spcBef>
                <a:spcPts val="0"/>
              </a:spcBef>
              <a:spcAft>
                <a:spcPts val="1200"/>
              </a:spcAft>
            </a:pPr>
            <a:r>
              <a:rPr sz="1600" b="1" i="0">
                <a:solidFill>
                  <a:srgbClr val="C9A14A"/>
                </a:solidFill>
                <a:latin typeface="Calibri" panose="020F0502020204030204"/>
                <a:cs typeface="Calibri" panose="020F0502020204030204"/>
              </a:rPr>
              <a:t>an Anjaninex product</a:t>
            </a:r>
            <a:endParaRPr sz="1600" b="1" i="0">
              <a:solidFill>
                <a:srgbClr val="C9A14A"/>
              </a:solidFill>
              <a:latin typeface="Calibri" panose="020F0502020204030204"/>
              <a:cs typeface="Calibri" panose="020F0502020204030204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CFE0F5"/>
                </a:solidFill>
                <a:latin typeface="Calibri" panose="020F0502020204030204"/>
                <a:cs typeface="Calibri" panose="020F0502020204030204"/>
              </a:rPr>
              <a:t>Run your entire business in one app</a:t>
            </a:r>
            <a:endParaRPr sz="2000" b="0" i="0">
              <a:solidFill>
                <a:srgbClr val="CFE0F5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4400" y="6126480"/>
            <a:ext cx="1036015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14A"/>
                </a:solidFill>
                <a:latin typeface="Calibri" panose="020F0502020204030204"/>
                <a:cs typeface="Calibri" panose="020F0502020204030204"/>
              </a:rPr>
              <a:t>vyaparsetu.anjaninex.com</a:t>
            </a:r>
            <a:endParaRPr sz="1500" b="1" i="0">
              <a:solidFill>
                <a:srgbClr val="C9A14A"/>
              </a:solidFill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800" b="1" i="0">
                <a:solidFill>
                  <a:srgbClr val="16294F"/>
                </a:solidFill>
                <a:latin typeface="Cambria" panose="02040503050406030204"/>
                <a:cs typeface="Cambria" panose="02040503050406030204"/>
              </a:rPr>
              <a:t>The daily struggle</a:t>
            </a:r>
            <a:endParaRPr sz="2800" b="1" i="0">
              <a:solidFill>
                <a:srgbClr val="16294F"/>
              </a:solidFill>
              <a:latin typeface="Cambria" panose="02040503050406030204"/>
              <a:cs typeface="Cambria" panose="02040503050406030204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A7892"/>
                </a:solidFill>
                <a:latin typeface="Calibri" panose="020F0502020204030204"/>
                <a:cs typeface="Calibri" panose="020F0502020204030204"/>
              </a:rPr>
              <a:t>Problems every trader faces today</a:t>
            </a:r>
            <a:endParaRPr sz="1400" b="0" i="0">
              <a:solidFill>
                <a:srgbClr val="6A7892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40080" y="1965960"/>
            <a:ext cx="352044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96112" y="2258568"/>
            <a:ext cx="658368" cy="658368"/>
          </a:xfrm>
          <a:prstGeom prst="ellipse">
            <a:avLst/>
          </a:prstGeom>
          <a:solidFill>
            <a:srgbClr val="E1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258568"/>
            <a:ext cx="658368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FFFFFF"/>
                </a:solidFill>
                <a:latin typeface="Segoe UI Emoji" panose="020B0502040204020203"/>
                <a:cs typeface="Segoe UI Emoji" panose="020B0502040204020203"/>
              </a:rPr>
              <a:t>🧾</a:t>
            </a:r>
            <a:endParaRPr sz="2000" b="0" i="0">
              <a:solidFill>
                <a:srgbClr val="FFFFFF"/>
              </a:solidFill>
              <a:latin typeface="Segoe UI Emoji" panose="020B0502040204020203"/>
              <a:cs typeface="Segoe UI Emoji" panose="020B0502040204020203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737360" y="2240279"/>
            <a:ext cx="2240280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1B2640"/>
                </a:solidFill>
                <a:latin typeface="Calibri" panose="020F0502020204030204"/>
                <a:cs typeface="Calibri" panose="020F0502020204030204"/>
              </a:rPr>
              <a:t>Manual books waste hours</a:t>
            </a:r>
            <a:endParaRPr sz="1450" b="1" i="0">
              <a:solidFill>
                <a:srgbClr val="1B2640"/>
              </a:solidFill>
              <a:latin typeface="Calibri" panose="020F0502020204030204"/>
              <a:cs typeface="Calibri" panose="020F0502020204030204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A7892"/>
                </a:solidFill>
                <a:latin typeface="Calibri" panose="020F0502020204030204"/>
                <a:cs typeface="Calibri" panose="020F0502020204030204"/>
              </a:rPr>
              <a:t>Registers &amp; Tally eat your day</a:t>
            </a:r>
            <a:endParaRPr sz="1250" b="0" i="0">
              <a:solidFill>
                <a:srgbClr val="6A7892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480560" y="1965960"/>
            <a:ext cx="352044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736592" y="2258568"/>
            <a:ext cx="658368" cy="658368"/>
          </a:xfrm>
          <a:prstGeom prst="ellipse">
            <a:avLst/>
          </a:prstGeom>
          <a:solidFill>
            <a:srgbClr val="E1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36592" y="2258568"/>
            <a:ext cx="658368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FFFFFF"/>
                </a:solidFill>
                <a:latin typeface="Segoe UI Emoji" panose="020B0502040204020203"/>
                <a:cs typeface="Segoe UI Emoji" panose="020B0502040204020203"/>
              </a:rPr>
              <a:t>😵</a:t>
            </a:r>
            <a:endParaRPr sz="2000" b="0" i="0">
              <a:solidFill>
                <a:srgbClr val="FFFFFF"/>
              </a:solidFill>
              <a:latin typeface="Segoe UI Emoji" panose="020B0502040204020203"/>
              <a:cs typeface="Segoe UI Emoji" panose="020B0502040204020203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577840" y="2240279"/>
            <a:ext cx="2240280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1B2640"/>
                </a:solidFill>
                <a:latin typeface="Calibri" panose="020F0502020204030204"/>
                <a:cs typeface="Calibri" panose="020F0502020204030204"/>
              </a:rPr>
              <a:t>GST errors &amp; stress</a:t>
            </a:r>
            <a:endParaRPr sz="1450" b="1" i="0">
              <a:solidFill>
                <a:srgbClr val="1B2640"/>
              </a:solidFill>
              <a:latin typeface="Calibri" panose="020F0502020204030204"/>
              <a:cs typeface="Calibri" panose="020F0502020204030204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A7892"/>
                </a:solidFill>
                <a:latin typeface="Calibri" panose="020F0502020204030204"/>
                <a:cs typeface="Calibri" panose="020F0502020204030204"/>
              </a:rPr>
              <a:t>Wrong tax, fear of notices</a:t>
            </a:r>
            <a:endParaRPr sz="1250" b="0" i="0">
              <a:solidFill>
                <a:srgbClr val="6A7892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321040" y="1965960"/>
            <a:ext cx="352044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577072" y="2258568"/>
            <a:ext cx="658368" cy="658368"/>
          </a:xfrm>
          <a:prstGeom prst="ellipse">
            <a:avLst/>
          </a:prstGeom>
          <a:solidFill>
            <a:srgbClr val="E1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77072" y="2258568"/>
            <a:ext cx="658368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FFFFFF"/>
                </a:solidFill>
                <a:latin typeface="Segoe UI Emoji" panose="020B0502040204020203"/>
                <a:cs typeface="Segoe UI Emoji" panose="020B0502040204020203"/>
              </a:rPr>
              <a:t>📵</a:t>
            </a:r>
            <a:endParaRPr sz="2000" b="0" i="0">
              <a:solidFill>
                <a:srgbClr val="FFFFFF"/>
              </a:solidFill>
              <a:latin typeface="Segoe UI Emoji" panose="020B0502040204020203"/>
              <a:cs typeface="Segoe UI Emoji" panose="020B0502040204020203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418319" y="2240279"/>
            <a:ext cx="2240280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1B2640"/>
                </a:solidFill>
                <a:latin typeface="Calibri" panose="020F0502020204030204"/>
                <a:cs typeface="Calibri" panose="020F0502020204030204"/>
              </a:rPr>
              <a:t>Orders lost on WhatsApp</a:t>
            </a:r>
            <a:endParaRPr sz="1450" b="1" i="0">
              <a:solidFill>
                <a:srgbClr val="1B2640"/>
              </a:solidFill>
              <a:latin typeface="Calibri" panose="020F0502020204030204"/>
              <a:cs typeface="Calibri" panose="020F0502020204030204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A7892"/>
                </a:solidFill>
                <a:latin typeface="Calibri" panose="020F0502020204030204"/>
                <a:cs typeface="Calibri" panose="020F0502020204030204"/>
              </a:rPr>
              <a:t>Miss an order, lose a customer</a:t>
            </a:r>
            <a:endParaRPr sz="1250" b="0" i="0">
              <a:solidFill>
                <a:srgbClr val="6A7892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40080" y="4023360"/>
            <a:ext cx="352044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96112" y="4315968"/>
            <a:ext cx="658368" cy="658368"/>
          </a:xfrm>
          <a:prstGeom prst="ellipse">
            <a:avLst/>
          </a:prstGeom>
          <a:solidFill>
            <a:srgbClr val="E1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4315968"/>
            <a:ext cx="658368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FFFFFF"/>
                </a:solidFill>
                <a:latin typeface="Segoe UI Emoji" panose="020B0502040204020203"/>
                <a:cs typeface="Segoe UI Emoji" panose="020B0502040204020203"/>
              </a:rPr>
              <a:t>⏰</a:t>
            </a:r>
            <a:endParaRPr sz="2000" b="0" i="0">
              <a:solidFill>
                <a:srgbClr val="FFFFFF"/>
              </a:solidFill>
              <a:latin typeface="Segoe UI Emoji" panose="020B0502040204020203"/>
              <a:cs typeface="Segoe UI Emoji" panose="020B0502040204020203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737360" y="4297680"/>
            <a:ext cx="2240280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1B2640"/>
                </a:solidFill>
                <a:latin typeface="Calibri" panose="020F0502020204030204"/>
                <a:cs typeface="Calibri" panose="020F0502020204030204"/>
              </a:rPr>
              <a:t>Payments go overdue</a:t>
            </a:r>
            <a:endParaRPr sz="1450" b="1" i="0">
              <a:solidFill>
                <a:srgbClr val="1B2640"/>
              </a:solidFill>
              <a:latin typeface="Calibri" panose="020F0502020204030204"/>
              <a:cs typeface="Calibri" panose="020F0502020204030204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A7892"/>
                </a:solidFill>
                <a:latin typeface="Calibri" panose="020F0502020204030204"/>
                <a:cs typeface="Calibri" panose="020F0502020204030204"/>
              </a:rPr>
              <a:t>No tracking of who owes what</a:t>
            </a:r>
            <a:endParaRPr sz="1250" b="0" i="0">
              <a:solidFill>
                <a:srgbClr val="6A7892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4480560" y="4023360"/>
            <a:ext cx="352044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736592" y="4315968"/>
            <a:ext cx="658368" cy="658368"/>
          </a:xfrm>
          <a:prstGeom prst="ellipse">
            <a:avLst/>
          </a:prstGeom>
          <a:solidFill>
            <a:srgbClr val="E1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36592" y="4315968"/>
            <a:ext cx="658368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FFFFFF"/>
                </a:solidFill>
                <a:latin typeface="Segoe UI Emoji" panose="020B0502040204020203"/>
                <a:cs typeface="Segoe UI Emoji" panose="020B0502040204020203"/>
              </a:rPr>
              <a:t>🗂️</a:t>
            </a:r>
            <a:endParaRPr sz="2000" b="0" i="0">
              <a:solidFill>
                <a:srgbClr val="FFFFFF"/>
              </a:solidFill>
              <a:latin typeface="Segoe UI Emoji" panose="020B0502040204020203"/>
              <a:cs typeface="Segoe UI Emoji" panose="020B0502040204020203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577840" y="4297680"/>
            <a:ext cx="2240280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1B2640"/>
                </a:solidFill>
                <a:latin typeface="Calibri" panose="020F0502020204030204"/>
                <a:cs typeface="Calibri" panose="020F0502020204030204"/>
              </a:rPr>
              <a:t>Data scattered</a:t>
            </a:r>
            <a:endParaRPr sz="1450" b="1" i="0">
              <a:solidFill>
                <a:srgbClr val="1B2640"/>
              </a:solidFill>
              <a:latin typeface="Calibri" panose="020F0502020204030204"/>
              <a:cs typeface="Calibri" panose="020F0502020204030204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A7892"/>
                </a:solidFill>
                <a:latin typeface="Calibri" panose="020F0502020204030204"/>
                <a:cs typeface="Calibri" panose="020F0502020204030204"/>
              </a:rPr>
              <a:t>Bills, ledgers, staff — everywhere</a:t>
            </a:r>
            <a:endParaRPr sz="1250" b="0" i="0">
              <a:solidFill>
                <a:srgbClr val="6A7892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8321040" y="4023360"/>
            <a:ext cx="352044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577072" y="4315968"/>
            <a:ext cx="658368" cy="658368"/>
          </a:xfrm>
          <a:prstGeom prst="ellipse">
            <a:avLst/>
          </a:prstGeom>
          <a:solidFill>
            <a:srgbClr val="E1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77072" y="4315968"/>
            <a:ext cx="658368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FFFFFF"/>
                </a:solidFill>
                <a:latin typeface="Segoe UI Emoji" panose="020B0502040204020203"/>
                <a:cs typeface="Segoe UI Emoji" panose="020B0502040204020203"/>
              </a:rPr>
              <a:t>🧑‍💼</a:t>
            </a:r>
            <a:endParaRPr sz="2000" b="0" i="0">
              <a:solidFill>
                <a:srgbClr val="FFFFFF"/>
              </a:solidFill>
              <a:latin typeface="Segoe UI Emoji" panose="020B0502040204020203"/>
              <a:cs typeface="Segoe UI Emoji" panose="020B0502040204020203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418319" y="4297680"/>
            <a:ext cx="2240280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1B2640"/>
                </a:solidFill>
                <a:latin typeface="Calibri" panose="020F0502020204030204"/>
                <a:cs typeface="Calibri" panose="020F0502020204030204"/>
              </a:rPr>
              <a:t>Depends on one operator</a:t>
            </a:r>
            <a:endParaRPr sz="1450" b="1" i="0">
              <a:solidFill>
                <a:srgbClr val="1B2640"/>
              </a:solidFill>
              <a:latin typeface="Calibri" panose="020F0502020204030204"/>
              <a:cs typeface="Calibri" panose="020F0502020204030204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A7892"/>
                </a:solidFill>
                <a:latin typeface="Calibri" panose="020F0502020204030204"/>
                <a:cs typeface="Calibri" panose="020F0502020204030204"/>
              </a:rPr>
              <a:t>He is on leave, work stops</a:t>
            </a:r>
            <a:endParaRPr sz="1250" b="0" i="0">
              <a:solidFill>
                <a:srgbClr val="6A7892"/>
              </a:solidFill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10058400" cy="2926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600" b="1" i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One app. Everything your business needs.</a:t>
            </a:r>
            <a:endParaRPr sz="3600" b="1" i="0">
              <a:solidFill>
                <a:srgbClr val="FFFFFF"/>
              </a:solidFill>
              <a:latin typeface="Cambria" panose="02040503050406030204"/>
              <a:cs typeface="Cambria" panose="02040503050406030204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CFE0F5"/>
                </a:solidFill>
                <a:latin typeface="Calibri" panose="020F0502020204030204"/>
                <a:cs typeface="Calibri" panose="020F0502020204030204"/>
              </a:rPr>
              <a:t>Trading · Accounts · GST · WhatsApp · Reports · AI — all in one place.</a:t>
            </a:r>
            <a:endParaRPr sz="1800" b="0" i="0">
              <a:solidFill>
                <a:srgbClr val="CFE0F5"/>
              </a:solidFill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800" b="1" i="0">
                <a:solidFill>
                  <a:srgbClr val="16294F"/>
                </a:solidFill>
                <a:latin typeface="Cambria" panose="02040503050406030204"/>
                <a:cs typeface="Cambria" panose="02040503050406030204"/>
              </a:rPr>
              <a:t>Everything included</a:t>
            </a:r>
            <a:endParaRPr sz="2800" b="1" i="0">
              <a:solidFill>
                <a:srgbClr val="16294F"/>
              </a:solidFill>
              <a:latin typeface="Cambria" panose="02040503050406030204"/>
              <a:cs typeface="Cambria" panose="02040503050406030204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A7892"/>
                </a:solidFill>
                <a:latin typeface="Calibri" panose="020F0502020204030204"/>
                <a:cs typeface="Calibri" panose="020F0502020204030204"/>
              </a:rPr>
              <a:t>One subscription — no add-ons</a:t>
            </a:r>
            <a:endParaRPr sz="1400" b="0" i="0">
              <a:solidFill>
                <a:srgbClr val="6A7892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40080" y="1874519"/>
            <a:ext cx="2139696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325880" y="2130552"/>
            <a:ext cx="768096" cy="768096"/>
          </a:xfrm>
          <a:prstGeom prst="ellipse">
            <a:avLst/>
          </a:prstGeom>
          <a:solidFill>
            <a:srgbClr val="E1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2130552"/>
            <a:ext cx="768096" cy="7680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FFFFFF"/>
                </a:solidFill>
                <a:latin typeface="Segoe UI Emoji" panose="020B0502040204020203"/>
                <a:cs typeface="Segoe UI Emoji" panose="020B0502040204020203"/>
              </a:rPr>
              <a:t>🛒</a:t>
            </a:r>
            <a:endParaRPr sz="2200" b="0" i="0">
              <a:solidFill>
                <a:srgbClr val="FFFFFF"/>
              </a:solidFill>
              <a:latin typeface="Segoe UI Emoji" panose="020B0502040204020203"/>
              <a:cs typeface="Segoe UI Emoji" panose="020B0502040204020203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49808" y="2971800"/>
            <a:ext cx="1920239" cy="6857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B2640"/>
                </a:solidFill>
                <a:latin typeface="Calibri" panose="020F0502020204030204"/>
                <a:cs typeface="Calibri" panose="020F0502020204030204"/>
              </a:rPr>
              <a:t>Trading</a:t>
            </a:r>
            <a:endParaRPr sz="1400" b="1" i="0">
              <a:solidFill>
                <a:srgbClr val="1B2640"/>
              </a:solidFill>
              <a:latin typeface="Calibri" panose="020F0502020204030204"/>
              <a:cs typeface="Calibri" panose="020F0502020204030204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7892"/>
                </a:solidFill>
                <a:latin typeface="Calibri" panose="020F0502020204030204"/>
                <a:cs typeface="Calibri" panose="020F0502020204030204"/>
              </a:rPr>
              <a:t>Order · Bill · Payment · GR</a:t>
            </a:r>
            <a:endParaRPr sz="1100" b="0" i="0">
              <a:solidFill>
                <a:srgbClr val="6A7892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2980944" y="1874519"/>
            <a:ext cx="2139696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666744" y="2130552"/>
            <a:ext cx="768096" cy="768096"/>
          </a:xfrm>
          <a:prstGeom prst="ellipse">
            <a:avLst/>
          </a:prstGeom>
          <a:solidFill>
            <a:srgbClr val="162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66744" y="2130552"/>
            <a:ext cx="768096" cy="7680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FFFFFF"/>
                </a:solidFill>
                <a:latin typeface="Segoe UI Emoji" panose="020B0502040204020203"/>
                <a:cs typeface="Segoe UI Emoji" panose="020B0502040204020203"/>
              </a:rPr>
              <a:t>📒</a:t>
            </a:r>
            <a:endParaRPr sz="2200" b="0" i="0">
              <a:solidFill>
                <a:srgbClr val="FFFFFF"/>
              </a:solidFill>
              <a:latin typeface="Segoe UI Emoji" panose="020B0502040204020203"/>
              <a:cs typeface="Segoe UI Emoji" panose="020B0502040204020203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090672" y="2971800"/>
            <a:ext cx="1920239" cy="6857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B2640"/>
                </a:solidFill>
                <a:latin typeface="Calibri" panose="020F0502020204030204"/>
                <a:cs typeface="Calibri" panose="020F0502020204030204"/>
              </a:rPr>
              <a:t>Accounting</a:t>
            </a:r>
            <a:endParaRPr sz="1400" b="1" i="0">
              <a:solidFill>
                <a:srgbClr val="1B2640"/>
              </a:solidFill>
              <a:latin typeface="Calibri" panose="020F0502020204030204"/>
              <a:cs typeface="Calibri" panose="020F0502020204030204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7892"/>
                </a:solidFill>
                <a:latin typeface="Calibri" panose="020F0502020204030204"/>
                <a:cs typeface="Calibri" panose="020F0502020204030204"/>
              </a:rPr>
              <a:t>Voucher · Ledger · P&amp;L · BS</a:t>
            </a:r>
            <a:endParaRPr sz="1100" b="0" i="0">
              <a:solidFill>
                <a:srgbClr val="6A7892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321808" y="1874519"/>
            <a:ext cx="2139696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007608" y="2130552"/>
            <a:ext cx="768096" cy="768096"/>
          </a:xfrm>
          <a:prstGeom prst="ellipse">
            <a:avLst/>
          </a:prstGeom>
          <a:solidFill>
            <a:srgbClr val="0E8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07608" y="2130552"/>
            <a:ext cx="768096" cy="7680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FFFFFF"/>
                </a:solidFill>
                <a:latin typeface="Segoe UI Emoji" panose="020B0502040204020203"/>
                <a:cs typeface="Segoe UI Emoji" panose="020B0502040204020203"/>
              </a:rPr>
              <a:t>🧮</a:t>
            </a:r>
            <a:endParaRPr sz="2200" b="0" i="0">
              <a:solidFill>
                <a:srgbClr val="FFFFFF"/>
              </a:solidFill>
              <a:latin typeface="Segoe UI Emoji" panose="020B0502040204020203"/>
              <a:cs typeface="Segoe UI Emoji" panose="020B0502040204020203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431536" y="2971800"/>
            <a:ext cx="1920239" cy="6857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B2640"/>
                </a:solidFill>
                <a:latin typeface="Calibri" panose="020F0502020204030204"/>
                <a:cs typeface="Calibri" panose="020F0502020204030204"/>
              </a:rPr>
              <a:t>GST Auto</a:t>
            </a:r>
            <a:endParaRPr sz="1400" b="1" i="0">
              <a:solidFill>
                <a:srgbClr val="1B2640"/>
              </a:solidFill>
              <a:latin typeface="Calibri" panose="020F0502020204030204"/>
              <a:cs typeface="Calibri" panose="020F0502020204030204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7892"/>
                </a:solidFill>
                <a:latin typeface="Calibri" panose="020F0502020204030204"/>
                <a:cs typeface="Calibri" panose="020F0502020204030204"/>
              </a:rPr>
              <a:t>CGST/SGST/IGST + reports</a:t>
            </a:r>
            <a:endParaRPr sz="1100" b="0" i="0">
              <a:solidFill>
                <a:srgbClr val="6A7892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662671" y="1874519"/>
            <a:ext cx="2139696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48471" y="2130552"/>
            <a:ext cx="768096" cy="768096"/>
          </a:xfrm>
          <a:prstGeom prst="ellipse">
            <a:avLst/>
          </a:prstGeom>
          <a:solidFill>
            <a:srgbClr val="6D4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48471" y="2130552"/>
            <a:ext cx="768096" cy="7680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FFFFFF"/>
                </a:solidFill>
                <a:latin typeface="Segoe UI Emoji" panose="020B0502040204020203"/>
                <a:cs typeface="Segoe UI Emoji" panose="020B0502040204020203"/>
              </a:rPr>
              <a:t>📷</a:t>
            </a:r>
            <a:endParaRPr sz="2200" b="0" i="0">
              <a:solidFill>
                <a:srgbClr val="FFFFFF"/>
              </a:solidFill>
              <a:latin typeface="Segoe UI Emoji" panose="020B0502040204020203"/>
              <a:cs typeface="Segoe UI Emoji" panose="020B0502040204020203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772399" y="2971800"/>
            <a:ext cx="1920239" cy="6857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B2640"/>
                </a:solidFill>
                <a:latin typeface="Calibri" panose="020F0502020204030204"/>
                <a:cs typeface="Calibri" panose="020F0502020204030204"/>
              </a:rPr>
              <a:t>OCR Bill Scan</a:t>
            </a:r>
            <a:endParaRPr sz="1400" b="1" i="0">
              <a:solidFill>
                <a:srgbClr val="1B2640"/>
              </a:solidFill>
              <a:latin typeface="Calibri" panose="020F0502020204030204"/>
              <a:cs typeface="Calibri" panose="020F0502020204030204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7892"/>
                </a:solidFill>
                <a:latin typeface="Calibri" panose="020F0502020204030204"/>
                <a:cs typeface="Calibri" panose="020F0502020204030204"/>
              </a:rPr>
              <a:t>Auto entry from a photo</a:t>
            </a:r>
            <a:endParaRPr sz="1100" b="0" i="0">
              <a:solidFill>
                <a:srgbClr val="6A7892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10003536" y="1874519"/>
            <a:ext cx="2139696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689336" y="2130552"/>
            <a:ext cx="768096" cy="768096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89336" y="2130552"/>
            <a:ext cx="768096" cy="7680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FFFFFF"/>
                </a:solidFill>
                <a:latin typeface="Segoe UI Emoji" panose="020B0502040204020203"/>
                <a:cs typeface="Segoe UI Emoji" panose="020B0502040204020203"/>
              </a:rPr>
              <a:t>💬</a:t>
            </a:r>
            <a:endParaRPr sz="2200" b="0" i="0">
              <a:solidFill>
                <a:srgbClr val="FFFFFF"/>
              </a:solidFill>
              <a:latin typeface="Segoe UI Emoji" panose="020B0502040204020203"/>
              <a:cs typeface="Segoe UI Emoji" panose="020B0502040204020203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113263" y="2971800"/>
            <a:ext cx="1920239" cy="6857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B2640"/>
                </a:solidFill>
                <a:latin typeface="Calibri" panose="020F0502020204030204"/>
                <a:cs typeface="Calibri" panose="020F0502020204030204"/>
              </a:rPr>
              <a:t>WhatsApp Bot</a:t>
            </a:r>
            <a:endParaRPr sz="1400" b="1" i="0">
              <a:solidFill>
                <a:srgbClr val="1B2640"/>
              </a:solidFill>
              <a:latin typeface="Calibri" panose="020F0502020204030204"/>
              <a:cs typeface="Calibri" panose="020F0502020204030204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7892"/>
                </a:solidFill>
                <a:latin typeface="Calibri" panose="020F0502020204030204"/>
                <a:cs typeface="Calibri" panose="020F0502020204030204"/>
              </a:rPr>
              <a:t>Send rates · take orders</a:t>
            </a:r>
            <a:endParaRPr sz="1100" b="0" i="0">
              <a:solidFill>
                <a:srgbClr val="6A7892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40080" y="4005072"/>
            <a:ext cx="2139696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25880" y="4261104"/>
            <a:ext cx="768096" cy="768096"/>
          </a:xfrm>
          <a:prstGeom prst="ellipse">
            <a:avLst/>
          </a:prstGeom>
          <a:solidFill>
            <a:srgbClr val="F2A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25880" y="4261104"/>
            <a:ext cx="768096" cy="7680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FFFFFF"/>
                </a:solidFill>
                <a:latin typeface="Segoe UI Emoji" panose="020B0502040204020203"/>
                <a:cs typeface="Segoe UI Emoji" panose="020B0502040204020203"/>
              </a:rPr>
              <a:t>📊</a:t>
            </a:r>
            <a:endParaRPr sz="2200" b="0" i="0">
              <a:solidFill>
                <a:srgbClr val="FFFFFF"/>
              </a:solidFill>
              <a:latin typeface="Segoe UI Emoji" panose="020B0502040204020203"/>
              <a:cs typeface="Segoe UI Emoji" panose="020B0502040204020203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49808" y="5102352"/>
            <a:ext cx="1920239" cy="6857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B2640"/>
                </a:solidFill>
                <a:latin typeface="Calibri" panose="020F0502020204030204"/>
                <a:cs typeface="Calibri" panose="020F0502020204030204"/>
              </a:rPr>
              <a:t>Reports</a:t>
            </a:r>
            <a:endParaRPr sz="1400" b="1" i="0">
              <a:solidFill>
                <a:srgbClr val="1B2640"/>
              </a:solidFill>
              <a:latin typeface="Calibri" panose="020F0502020204030204"/>
              <a:cs typeface="Calibri" panose="020F0502020204030204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7892"/>
                </a:solidFill>
                <a:latin typeface="Calibri" panose="020F0502020204030204"/>
                <a:cs typeface="Calibri" panose="020F0502020204030204"/>
              </a:rPr>
              <a:t>Sales · Outstanding · Top</a:t>
            </a:r>
            <a:endParaRPr sz="1100" b="0" i="0">
              <a:solidFill>
                <a:srgbClr val="6A7892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2980944" y="4005072"/>
            <a:ext cx="2139696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666744" y="4261104"/>
            <a:ext cx="768096" cy="768096"/>
          </a:xfrm>
          <a:prstGeom prst="ellipse">
            <a:avLst/>
          </a:prstGeom>
          <a:solidFill>
            <a:srgbClr val="162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66744" y="4261104"/>
            <a:ext cx="768096" cy="7680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FFFFFF"/>
                </a:solidFill>
                <a:latin typeface="Segoe UI Emoji" panose="020B0502040204020203"/>
                <a:cs typeface="Segoe UI Emoji" panose="020B0502040204020203"/>
              </a:rPr>
              <a:t>👥</a:t>
            </a:r>
            <a:endParaRPr sz="2200" b="0" i="0">
              <a:solidFill>
                <a:srgbClr val="FFFFFF"/>
              </a:solidFill>
              <a:latin typeface="Segoe UI Emoji" panose="020B0502040204020203"/>
              <a:cs typeface="Segoe UI Emoji" panose="020B0502040204020203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090672" y="5102352"/>
            <a:ext cx="1920239" cy="6857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B2640"/>
                </a:solidFill>
                <a:latin typeface="Calibri" panose="020F0502020204030204"/>
                <a:cs typeface="Calibri" panose="020F0502020204030204"/>
              </a:rPr>
              <a:t>HR</a:t>
            </a:r>
            <a:endParaRPr sz="1400" b="1" i="0">
              <a:solidFill>
                <a:srgbClr val="1B2640"/>
              </a:solidFill>
              <a:latin typeface="Calibri" panose="020F0502020204030204"/>
              <a:cs typeface="Calibri" panose="020F0502020204030204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7892"/>
                </a:solidFill>
                <a:latin typeface="Calibri" panose="020F0502020204030204"/>
                <a:cs typeface="Calibri" panose="020F0502020204030204"/>
              </a:rPr>
              <a:t>Attendance · Payroll</a:t>
            </a:r>
            <a:endParaRPr sz="1100" b="0" i="0">
              <a:solidFill>
                <a:srgbClr val="6A7892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5321808" y="4005072"/>
            <a:ext cx="2139696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007608" y="4261104"/>
            <a:ext cx="768096" cy="768096"/>
          </a:xfrm>
          <a:prstGeom prst="ellipse">
            <a:avLst/>
          </a:prstGeom>
          <a:solidFill>
            <a:srgbClr val="0E8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07608" y="4261104"/>
            <a:ext cx="768096" cy="7680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FFFFFF"/>
                </a:solidFill>
                <a:latin typeface="Segoe UI Emoji" panose="020B0502040204020203"/>
                <a:cs typeface="Segoe UI Emoji" panose="020B0502040204020203"/>
              </a:rPr>
              <a:t>🏭</a:t>
            </a:r>
            <a:endParaRPr sz="2200" b="0" i="0">
              <a:solidFill>
                <a:srgbClr val="FFFFFF"/>
              </a:solidFill>
              <a:latin typeface="Segoe UI Emoji" panose="020B0502040204020203"/>
              <a:cs typeface="Segoe UI Emoji" panose="020B0502040204020203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431536" y="5102352"/>
            <a:ext cx="1920239" cy="6857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B2640"/>
                </a:solidFill>
                <a:latin typeface="Calibri" panose="020F0502020204030204"/>
                <a:cs typeface="Calibri" panose="020F0502020204030204"/>
              </a:rPr>
              <a:t>Bazaar Link</a:t>
            </a:r>
            <a:endParaRPr sz="1400" b="1" i="0">
              <a:solidFill>
                <a:srgbClr val="1B2640"/>
              </a:solidFill>
              <a:latin typeface="Calibri" panose="020F0502020204030204"/>
              <a:cs typeface="Calibri" panose="020F0502020204030204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7892"/>
                </a:solidFill>
                <a:latin typeface="Calibri" panose="020F0502020204030204"/>
                <a:cs typeface="Calibri" panose="020F0502020204030204"/>
              </a:rPr>
              <a:t>Supplier–Buyer directory</a:t>
            </a:r>
            <a:endParaRPr sz="1100" b="0" i="0">
              <a:solidFill>
                <a:srgbClr val="6A7892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7662671" y="4005072"/>
            <a:ext cx="2139696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348471" y="4261104"/>
            <a:ext cx="768096" cy="768096"/>
          </a:xfrm>
          <a:prstGeom prst="ellipse">
            <a:avLst/>
          </a:prstGeom>
          <a:solidFill>
            <a:srgbClr val="6D4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48471" y="4261104"/>
            <a:ext cx="768096" cy="7680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FFFFFF"/>
                </a:solidFill>
                <a:latin typeface="Segoe UI Emoji" panose="020B0502040204020203"/>
                <a:cs typeface="Segoe UI Emoji" panose="020B0502040204020203"/>
              </a:rPr>
              <a:t>🎤</a:t>
            </a:r>
            <a:endParaRPr sz="2200" b="0" i="0">
              <a:solidFill>
                <a:srgbClr val="FFFFFF"/>
              </a:solidFill>
              <a:latin typeface="Segoe UI Emoji" panose="020B0502040204020203"/>
              <a:cs typeface="Segoe UI Emoji" panose="020B0502040204020203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772399" y="5102352"/>
            <a:ext cx="1920239" cy="6857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B2640"/>
                </a:solidFill>
                <a:latin typeface="Calibri" panose="020F0502020204030204"/>
                <a:cs typeface="Calibri" panose="020F0502020204030204"/>
              </a:rPr>
              <a:t>Voice Assistant</a:t>
            </a:r>
            <a:endParaRPr sz="1400" b="1" i="0">
              <a:solidFill>
                <a:srgbClr val="1B2640"/>
              </a:solidFill>
              <a:latin typeface="Calibri" panose="020F0502020204030204"/>
              <a:cs typeface="Calibri" panose="020F0502020204030204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7892"/>
                </a:solidFill>
                <a:latin typeface="Calibri" panose="020F0502020204030204"/>
                <a:cs typeface="Calibri" panose="020F0502020204030204"/>
              </a:rPr>
              <a:t>Ask by voice (Hindi)</a:t>
            </a:r>
            <a:endParaRPr sz="1100" b="0" i="0">
              <a:solidFill>
                <a:srgbClr val="6A7892"/>
              </a:solidFill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6591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800" b="1" i="0">
                <a:solidFill>
                  <a:srgbClr val="16294F"/>
                </a:solidFill>
                <a:latin typeface="Cambria" panose="02040503050406030204"/>
                <a:cs typeface="Cambria" panose="02040503050406030204"/>
              </a:rPr>
              <a:t>The power of </a:t>
            </a:r>
            <a:r>
              <a:rPr lang="en-US" sz="2800" b="1" i="0">
                <a:solidFill>
                  <a:srgbClr val="16294F"/>
                </a:solidFill>
                <a:latin typeface="Cambria" panose="02040503050406030204"/>
                <a:cs typeface="Cambria" panose="02040503050406030204"/>
              </a:rPr>
              <a:t>OCR (</a:t>
            </a:r>
            <a:r>
              <a:rPr lang="en-US" altLang="en-US" sz="2800" b="1" i="0">
                <a:solidFill>
                  <a:srgbClr val="16294F"/>
                </a:solidFill>
                <a:latin typeface="Cambria" panose="02040503050406030204"/>
                <a:cs typeface="Cambria" panose="02040503050406030204"/>
              </a:rPr>
              <a:t>Optical Character Recognition)</a:t>
            </a:r>
            <a:endParaRPr lang="en-US" altLang="en-US" sz="2800" b="1" i="0">
              <a:solidFill>
                <a:srgbClr val="16294F"/>
              </a:solidFill>
              <a:latin typeface="Cambria" panose="02040503050406030204"/>
              <a:cs typeface="Cambria" panose="02040503050406030204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400" b="0" i="0">
                <a:solidFill>
                  <a:srgbClr val="6A7892"/>
                </a:solidFill>
                <a:latin typeface="Calibri" panose="020F0502020204030204"/>
                <a:cs typeface="Calibri" panose="020F0502020204030204"/>
              </a:rPr>
              <a:t>)</a:t>
            </a:r>
            <a:r>
              <a:rPr sz="1400" b="0" i="0">
                <a:solidFill>
                  <a:srgbClr val="6A7892"/>
                </a:solidFill>
                <a:latin typeface="Calibri" panose="020F0502020204030204"/>
                <a:cs typeface="Calibri" panose="020F0502020204030204"/>
              </a:rPr>
              <a:t>Smart features that save real time</a:t>
            </a:r>
            <a:endParaRPr sz="1400" b="0" i="0">
              <a:solidFill>
                <a:srgbClr val="6A7892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40080" y="2011680"/>
            <a:ext cx="352044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943100" y="2377440"/>
            <a:ext cx="914400" cy="914400"/>
          </a:xfrm>
          <a:prstGeom prst="ellipse">
            <a:avLst/>
          </a:prstGeom>
          <a:solidFill>
            <a:srgbClr val="6D4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43100" y="2377440"/>
            <a:ext cx="91440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0" i="0">
                <a:solidFill>
                  <a:srgbClr val="FFFFFF"/>
                </a:solidFill>
                <a:latin typeface="Segoe UI Emoji" panose="020B0502040204020203"/>
                <a:cs typeface="Segoe UI Emoji" panose="020B0502040204020203"/>
              </a:rPr>
              <a:t>📷</a:t>
            </a:r>
            <a:endParaRPr sz="2800" b="0" i="0">
              <a:solidFill>
                <a:srgbClr val="FFFFFF"/>
              </a:solidFill>
              <a:latin typeface="Segoe UI Emoji" panose="020B0502040204020203"/>
              <a:cs typeface="Segoe UI Emoji" panose="020B0502040204020203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4400" y="3520440"/>
            <a:ext cx="2971800" cy="14630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B2640"/>
                </a:solidFill>
                <a:latin typeface="Calibri" panose="020F0502020204030204"/>
                <a:cs typeface="Calibri" panose="020F0502020204030204"/>
              </a:rPr>
              <a:t>OCR Bill Scan</a:t>
            </a:r>
            <a:endParaRPr sz="1700" b="1" i="0">
              <a:solidFill>
                <a:srgbClr val="1B2640"/>
              </a:solidFill>
              <a:latin typeface="Calibri" panose="020F0502020204030204"/>
              <a:cs typeface="Calibri" panose="020F0502020204030204"/>
            </a:endParaRP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7892"/>
                </a:solidFill>
                <a:latin typeface="Calibri" panose="020F0502020204030204"/>
                <a:cs typeface="Calibri" panose="020F0502020204030204"/>
              </a:rPr>
              <a:t>Snap a photo of a bill — items, rate and GST fill in automatically. No typing.</a:t>
            </a:r>
            <a:endParaRPr sz="1300" b="0" i="0">
              <a:solidFill>
                <a:srgbClr val="6A7892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480560" y="2011680"/>
            <a:ext cx="352044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783580" y="2377440"/>
            <a:ext cx="914400" cy="914400"/>
          </a:xfrm>
          <a:prstGeom prst="ellipse">
            <a:avLst/>
          </a:prstGeom>
          <a:solidFill>
            <a:srgbClr val="0E8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83580" y="2377440"/>
            <a:ext cx="91440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0" i="0">
                <a:solidFill>
                  <a:srgbClr val="FFFFFF"/>
                </a:solidFill>
                <a:latin typeface="Segoe UI Emoji" panose="020B0502040204020203"/>
                <a:cs typeface="Segoe UI Emoji" panose="020B0502040204020203"/>
              </a:rPr>
              <a:t>🎤</a:t>
            </a:r>
            <a:endParaRPr sz="2800" b="0" i="0">
              <a:solidFill>
                <a:srgbClr val="FFFFFF"/>
              </a:solidFill>
              <a:latin typeface="Segoe UI Emoji" panose="020B0502040204020203"/>
              <a:cs typeface="Segoe UI Emoji" panose="020B0502040204020203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754880" y="3520440"/>
            <a:ext cx="2971800" cy="14630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B2640"/>
                </a:solidFill>
                <a:latin typeface="Calibri" panose="020F0502020204030204"/>
                <a:cs typeface="Calibri" panose="020F0502020204030204"/>
              </a:rPr>
              <a:t>Voice Assistant</a:t>
            </a:r>
            <a:endParaRPr sz="1700" b="1" i="0">
              <a:solidFill>
                <a:srgbClr val="1B2640"/>
              </a:solidFill>
              <a:latin typeface="Calibri" panose="020F0502020204030204"/>
              <a:cs typeface="Calibri" panose="020F0502020204030204"/>
            </a:endParaRP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7892"/>
                </a:solidFill>
                <a:latin typeface="Calibri" panose="020F0502020204030204"/>
                <a:cs typeface="Calibri" panose="020F0502020204030204"/>
              </a:rPr>
              <a:t>Just ask — party balance, today's sales. Answers in Hindi/Gujarati.</a:t>
            </a:r>
            <a:endParaRPr sz="1300" b="0" i="0">
              <a:solidFill>
                <a:srgbClr val="6A7892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321040" y="2011680"/>
            <a:ext cx="352044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624060" y="2377440"/>
            <a:ext cx="914400" cy="91440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24060" y="2377440"/>
            <a:ext cx="91440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0" i="0">
                <a:solidFill>
                  <a:srgbClr val="FFFFFF"/>
                </a:solidFill>
                <a:latin typeface="Segoe UI Emoji" panose="020B0502040204020203"/>
                <a:cs typeface="Segoe UI Emoji" panose="020B0502040204020203"/>
              </a:rPr>
              <a:t>💬</a:t>
            </a:r>
            <a:endParaRPr sz="2800" b="0" i="0">
              <a:solidFill>
                <a:srgbClr val="FFFFFF"/>
              </a:solidFill>
              <a:latin typeface="Segoe UI Emoji" panose="020B0502040204020203"/>
              <a:cs typeface="Segoe UI Emoji" panose="020B0502040204020203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595360" y="3520440"/>
            <a:ext cx="2971800" cy="14630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B2640"/>
                </a:solidFill>
                <a:latin typeface="Calibri" panose="020F0502020204030204"/>
                <a:cs typeface="Calibri" panose="020F0502020204030204"/>
              </a:rPr>
              <a:t>WhatsApp Bot</a:t>
            </a:r>
            <a:endParaRPr sz="1700" b="1" i="0">
              <a:solidFill>
                <a:srgbClr val="1B2640"/>
              </a:solidFill>
              <a:latin typeface="Calibri" panose="020F0502020204030204"/>
              <a:cs typeface="Calibri" panose="020F0502020204030204"/>
            </a:endParaRP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7892"/>
                </a:solidFill>
                <a:latin typeface="Calibri" panose="020F0502020204030204"/>
                <a:cs typeface="Calibri" panose="020F0502020204030204"/>
              </a:rPr>
              <a:t>Broadcast rates and take orders — all automatically on WhatsApp.</a:t>
            </a:r>
            <a:endParaRPr sz="1300" b="0" i="0">
              <a:solidFill>
                <a:srgbClr val="6A7892"/>
              </a:solidFill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3415" y="457200"/>
            <a:ext cx="10972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800" b="1" i="0">
                <a:solidFill>
                  <a:srgbClr val="16294F"/>
                </a:solidFill>
                <a:latin typeface="Cambria" panose="02040503050406030204"/>
                <a:cs typeface="Cambria" panose="02040503050406030204"/>
              </a:rPr>
              <a:t>Little things, big impact</a:t>
            </a:r>
            <a:endParaRPr sz="2800" b="1" i="0">
              <a:solidFill>
                <a:srgbClr val="16294F"/>
              </a:solidFill>
              <a:latin typeface="Cambria" panose="02040503050406030204"/>
              <a:cs typeface="Cambria" panose="02040503050406030204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A7892"/>
                </a:solidFill>
                <a:latin typeface="Calibri" panose="020F0502020204030204"/>
                <a:cs typeface="Calibri" panose="020F0502020204030204"/>
              </a:rPr>
              <a:t>Everyday time-savers built in</a:t>
            </a:r>
            <a:endParaRPr sz="1400" b="0" i="0">
              <a:solidFill>
                <a:srgbClr val="6A7892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40080" y="196596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F5F6F9"/>
          </a:solidFill>
          <a:ln w="1270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1247" y="2139696"/>
            <a:ext cx="566928" cy="566928"/>
          </a:xfrm>
          <a:prstGeom prst="ellipse">
            <a:avLst/>
          </a:prstGeom>
          <a:solidFill>
            <a:srgbClr val="E1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2139696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Segoe UI Emoji" panose="020B0502040204020203"/>
                <a:cs typeface="Segoe UI Emoji" panose="020B0502040204020203"/>
              </a:rPr>
              <a:t>📸</a:t>
            </a:r>
            <a:endParaRPr sz="1600" b="0" i="0">
              <a:solidFill>
                <a:srgbClr val="FFFFFF"/>
              </a:solidFill>
              <a:latin typeface="Segoe UI Emoji" panose="020B0502040204020203"/>
              <a:cs typeface="Segoe UI Emoji" panose="020B0502040204020203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600200" y="1965960"/>
            <a:ext cx="429768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B2640"/>
                </a:solidFill>
                <a:latin typeface="Calibri" panose="020F0502020204030204"/>
                <a:cs typeface="Calibri" panose="020F0502020204030204"/>
              </a:rPr>
              <a:t>Scan a bill → 1-click bill ready</a:t>
            </a:r>
            <a:endParaRPr sz="1450" b="1" i="0">
              <a:solidFill>
                <a:srgbClr val="1B2640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263640" y="196596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F5F6F9"/>
          </a:solidFill>
          <a:ln w="1270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64808" y="2139696"/>
            <a:ext cx="566928" cy="566928"/>
          </a:xfrm>
          <a:prstGeom prst="ellipse">
            <a:avLst/>
          </a:prstGeom>
          <a:solidFill>
            <a:srgbClr val="162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64808" y="2139696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Segoe UI Emoji" panose="020B0502040204020203"/>
                <a:cs typeface="Segoe UI Emoji" panose="020B0502040204020203"/>
              </a:rPr>
              <a:t>💳</a:t>
            </a:r>
            <a:endParaRPr sz="1600" b="0" i="0">
              <a:solidFill>
                <a:srgbClr val="FFFFFF"/>
              </a:solidFill>
              <a:latin typeface="Segoe UI Emoji" panose="020B0502040204020203"/>
              <a:cs typeface="Segoe UI Emoji" panose="020B0502040204020203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223760" y="1965960"/>
            <a:ext cx="429768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B2640"/>
                </a:solidFill>
                <a:latin typeface="Calibri" panose="020F0502020204030204"/>
                <a:cs typeface="Calibri" panose="020F0502020204030204"/>
              </a:rPr>
              <a:t>Set buyer credit limit — control udhaar</a:t>
            </a:r>
            <a:endParaRPr sz="1450" b="1" i="0">
              <a:solidFill>
                <a:srgbClr val="1B2640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40080" y="310896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F5F6F9"/>
          </a:solidFill>
          <a:ln w="1270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1247" y="3282696"/>
            <a:ext cx="566928" cy="56692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3282696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Segoe UI Emoji" panose="020B0502040204020203"/>
                <a:cs typeface="Segoe UI Emoji" panose="020B0502040204020203"/>
              </a:rPr>
              <a:t>🔔</a:t>
            </a:r>
            <a:endParaRPr sz="1600" b="0" i="0">
              <a:solidFill>
                <a:srgbClr val="FFFFFF"/>
              </a:solidFill>
              <a:latin typeface="Segoe UI Emoji" panose="020B0502040204020203"/>
              <a:cs typeface="Segoe UI Emoji" panose="020B0502040204020203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600200" y="3108960"/>
            <a:ext cx="429768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B2640"/>
                </a:solidFill>
                <a:latin typeface="Calibri" panose="020F0502020204030204"/>
                <a:cs typeface="Calibri" panose="020F0502020204030204"/>
              </a:rPr>
              <a:t>Auto payment reminders on WhatsApp</a:t>
            </a:r>
            <a:endParaRPr sz="1450" b="1" i="0">
              <a:solidFill>
                <a:srgbClr val="1B2640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263640" y="310896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F5F6F9"/>
          </a:solidFill>
          <a:ln w="1270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64808" y="3282696"/>
            <a:ext cx="566928" cy="566928"/>
          </a:xfrm>
          <a:prstGeom prst="ellipse">
            <a:avLst/>
          </a:prstGeom>
          <a:solidFill>
            <a:srgbClr val="0E8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64808" y="3282696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Segoe UI Emoji" panose="020B0502040204020203"/>
                <a:cs typeface="Segoe UI Emoji" panose="020B0502040204020203"/>
              </a:rPr>
              <a:t>🔎</a:t>
            </a:r>
            <a:endParaRPr sz="1600" b="0" i="0">
              <a:solidFill>
                <a:srgbClr val="FFFFFF"/>
              </a:solidFill>
              <a:latin typeface="Segoe UI Emoji" panose="020B0502040204020203"/>
              <a:cs typeface="Segoe UI Emoji" panose="020B0502040204020203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223760" y="3108960"/>
            <a:ext cx="429768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B2640"/>
                </a:solidFill>
                <a:latin typeface="Calibri" panose="020F0502020204030204"/>
                <a:cs typeface="Calibri" panose="020F0502020204030204"/>
              </a:rPr>
              <a:t>Any party's balance in 1 tap</a:t>
            </a:r>
            <a:endParaRPr sz="1450" b="1" i="0">
              <a:solidFill>
                <a:srgbClr val="1B2640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40080" y="425196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F5F6F9"/>
          </a:solidFill>
          <a:ln w="1270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41247" y="4425696"/>
            <a:ext cx="566928" cy="566928"/>
          </a:xfrm>
          <a:prstGeom prst="ellipse">
            <a:avLst/>
          </a:prstGeom>
          <a:solidFill>
            <a:srgbClr val="F2A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7" y="4425696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Segoe UI Emoji" panose="020B0502040204020203"/>
                <a:cs typeface="Segoe UI Emoji" panose="020B0502040204020203"/>
              </a:rPr>
              <a:t>🖨️</a:t>
            </a:r>
            <a:endParaRPr sz="1600" b="0" i="0">
              <a:solidFill>
                <a:srgbClr val="FFFFFF"/>
              </a:solidFill>
              <a:latin typeface="Segoe UI Emoji" panose="020B0502040204020203"/>
              <a:cs typeface="Segoe UI Emoji" panose="020B0502040204020203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600200" y="4251960"/>
            <a:ext cx="429768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B2640"/>
                </a:solidFill>
                <a:latin typeface="Calibri" panose="020F0502020204030204"/>
                <a:cs typeface="Calibri" panose="020F0502020204030204"/>
              </a:rPr>
              <a:t>Print + WhatsApp a bill instantly</a:t>
            </a:r>
            <a:endParaRPr sz="1450" b="1" i="0">
              <a:solidFill>
                <a:srgbClr val="1B2640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263640" y="425196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F5F6F9"/>
          </a:solidFill>
          <a:ln w="1270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0080" y="539496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F5F6F9"/>
          </a:solidFill>
          <a:ln w="1270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41247" y="5568696"/>
            <a:ext cx="566928" cy="566928"/>
          </a:xfrm>
          <a:prstGeom prst="ellipse">
            <a:avLst/>
          </a:prstGeom>
          <a:solidFill>
            <a:srgbClr val="162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7" y="5568696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Segoe UI Emoji" panose="020B0502040204020203"/>
                <a:cs typeface="Segoe UI Emoji" panose="020B0502040204020203"/>
              </a:rPr>
              <a:t>🏢</a:t>
            </a:r>
            <a:endParaRPr sz="1600" b="0" i="0">
              <a:solidFill>
                <a:srgbClr val="FFFFFF"/>
              </a:solidFill>
              <a:latin typeface="Segoe UI Emoji" panose="020B0502040204020203"/>
              <a:cs typeface="Segoe UI Emoji" panose="020B0502040204020203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600200" y="5394960"/>
            <a:ext cx="429768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B2640"/>
                </a:solidFill>
                <a:latin typeface="Calibri" panose="020F0502020204030204"/>
                <a:cs typeface="Calibri" panose="020F0502020204030204"/>
              </a:rPr>
              <a:t>Multi-branch + team roles &amp; permissions</a:t>
            </a:r>
            <a:endParaRPr sz="1450" b="1" i="0">
              <a:solidFill>
                <a:srgbClr val="1B2640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6263640" y="539496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F5F6F9"/>
          </a:solidFill>
          <a:ln w="1270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370193" y="4425696"/>
            <a:ext cx="566928" cy="566928"/>
          </a:xfrm>
          <a:prstGeom prst="ellipse">
            <a:avLst/>
          </a:prstGeom>
          <a:solidFill>
            <a:srgbClr val="0E8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70193" y="4425696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Segoe UI Emoji" panose="020B0502040204020203"/>
                <a:cs typeface="Segoe UI Emoji" panose="020B0502040204020203"/>
              </a:rPr>
              <a:t>☁</a:t>
            </a:r>
            <a:endParaRPr sz="1600" b="0" i="0">
              <a:solidFill>
                <a:srgbClr val="FFFFFF"/>
              </a:solidFill>
              <a:latin typeface="Segoe UI Emoji" panose="020B0502040204020203"/>
              <a:cs typeface="Segoe UI Emoji" panose="020B0502040204020203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223760" y="4251960"/>
            <a:ext cx="429768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B2640"/>
                </a:solidFill>
                <a:latin typeface="Calibri" panose="020F0502020204030204"/>
                <a:cs typeface="Calibri" panose="020F0502020204030204"/>
              </a:rPr>
              <a:t>Daily backup — your data stays safe</a:t>
            </a:r>
            <a:endParaRPr sz="1450" b="1" i="0">
              <a:solidFill>
                <a:srgbClr val="1B2640"/>
              </a:solidFill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800" b="1" i="0">
                <a:solidFill>
                  <a:srgbClr val="16294F"/>
                </a:solidFill>
                <a:latin typeface="Cambria" panose="02040503050406030204"/>
                <a:cs typeface="Cambria" panose="02040503050406030204"/>
              </a:rPr>
              <a:t>Reports that run your business</a:t>
            </a:r>
            <a:endParaRPr sz="2800" b="1" i="0">
              <a:solidFill>
                <a:srgbClr val="16294F"/>
              </a:solidFill>
              <a:latin typeface="Cambria" panose="02040503050406030204"/>
              <a:cs typeface="Cambria" panose="02040503050406030204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A7892"/>
                </a:solidFill>
                <a:latin typeface="Calibri" panose="020F0502020204030204"/>
                <a:cs typeface="Calibri" panose="020F0502020204030204"/>
              </a:rPr>
              <a:t>Know your numbers — anytime, on any device</a:t>
            </a:r>
            <a:endParaRPr sz="1400" b="0" i="0">
              <a:solidFill>
                <a:srgbClr val="6A7892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40080" y="1920240"/>
            <a:ext cx="2670048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96112" y="2176272"/>
            <a:ext cx="603504" cy="603504"/>
          </a:xfrm>
          <a:prstGeom prst="ellipse">
            <a:avLst/>
          </a:prstGeom>
          <a:solidFill>
            <a:srgbClr val="E1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176272"/>
            <a:ext cx="603504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Segoe UI Emoji" panose="020B0502040204020203"/>
                <a:cs typeface="Segoe UI Emoji" panose="020B0502040204020203"/>
              </a:rPr>
              <a:t>📈</a:t>
            </a:r>
            <a:endParaRPr sz="1700" b="0" i="0">
              <a:solidFill>
                <a:srgbClr val="FFFFFF"/>
              </a:solidFill>
              <a:latin typeface="Segoe UI Emoji" panose="020B0502040204020203"/>
              <a:cs typeface="Segoe UI Emoji" panose="020B0502040204020203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96112" y="2880360"/>
            <a:ext cx="2157984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B2640"/>
                </a:solidFill>
                <a:latin typeface="Calibri" panose="020F0502020204030204"/>
                <a:cs typeface="Calibri" panose="020F0502020204030204"/>
              </a:rPr>
              <a:t>Order vs Bill compare</a:t>
            </a:r>
            <a:endParaRPr sz="1350" b="1" i="0">
              <a:solidFill>
                <a:srgbClr val="1B2640"/>
              </a:solidFill>
              <a:latin typeface="Calibri" panose="020F0502020204030204"/>
              <a:cs typeface="Calibri" panose="020F0502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7892"/>
                </a:solidFill>
                <a:latin typeface="Calibri" panose="020F0502020204030204"/>
                <a:cs typeface="Calibri" panose="020F0502020204030204"/>
              </a:rPr>
              <a:t>How much ordered vs actually billed</a:t>
            </a:r>
            <a:endParaRPr sz="1100" b="0" i="0">
              <a:solidFill>
                <a:srgbClr val="6A7892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511296" y="1920240"/>
            <a:ext cx="2670048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767328" y="2176272"/>
            <a:ext cx="603504" cy="603504"/>
          </a:xfrm>
          <a:prstGeom prst="ellipse">
            <a:avLst/>
          </a:prstGeom>
          <a:solidFill>
            <a:srgbClr val="F2A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67328" y="2176272"/>
            <a:ext cx="603504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Segoe UI Emoji" panose="020B0502040204020203"/>
                <a:cs typeface="Segoe UI Emoji" panose="020B0502040204020203"/>
              </a:rPr>
              <a:t>⏳</a:t>
            </a:r>
            <a:endParaRPr sz="1700" b="0" i="0">
              <a:solidFill>
                <a:srgbClr val="FFFFFF"/>
              </a:solidFill>
              <a:latin typeface="Segoe UI Emoji" panose="020B0502040204020203"/>
              <a:cs typeface="Segoe UI Emoji" panose="020B0502040204020203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67328" y="2880360"/>
            <a:ext cx="2157984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B2640"/>
                </a:solidFill>
                <a:latin typeface="Calibri" panose="020F0502020204030204"/>
                <a:cs typeface="Calibri" panose="020F0502020204030204"/>
              </a:rPr>
              <a:t>Payment overdue / late payers</a:t>
            </a:r>
            <a:endParaRPr sz="1350" b="1" i="0">
              <a:solidFill>
                <a:srgbClr val="1B2640"/>
              </a:solidFill>
              <a:latin typeface="Calibri" panose="020F0502020204030204"/>
              <a:cs typeface="Calibri" panose="020F0502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7892"/>
                </a:solidFill>
                <a:latin typeface="Calibri" panose="020F0502020204030204"/>
                <a:cs typeface="Calibri" panose="020F0502020204030204"/>
              </a:rPr>
              <a:t>Who owes, how many days late</a:t>
            </a:r>
            <a:endParaRPr sz="1100" b="0" i="0">
              <a:solidFill>
                <a:srgbClr val="6A7892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382512" y="1920240"/>
            <a:ext cx="2670048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638544" y="2176272"/>
            <a:ext cx="603504" cy="603504"/>
          </a:xfrm>
          <a:prstGeom prst="ellipse">
            <a:avLst/>
          </a:prstGeom>
          <a:solidFill>
            <a:srgbClr val="0E8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38544" y="2176272"/>
            <a:ext cx="603504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Segoe UI Emoji" panose="020B0502040204020203"/>
                <a:cs typeface="Segoe UI Emoji" panose="020B0502040204020203"/>
              </a:rPr>
              <a:t>🏙️</a:t>
            </a:r>
            <a:endParaRPr sz="1700" b="0" i="0">
              <a:solidFill>
                <a:srgbClr val="FFFFFF"/>
              </a:solidFill>
              <a:latin typeface="Segoe UI Emoji" panose="020B0502040204020203"/>
              <a:cs typeface="Segoe UI Emoji" panose="020B0502040204020203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638544" y="2880360"/>
            <a:ext cx="2157984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B2640"/>
                </a:solidFill>
                <a:latin typeface="Calibri" panose="020F0502020204030204"/>
                <a:cs typeface="Calibri" panose="020F0502020204030204"/>
              </a:rPr>
              <a:t>City-wise buyer report</a:t>
            </a:r>
            <a:endParaRPr sz="1350" b="1" i="0">
              <a:solidFill>
                <a:srgbClr val="1B2640"/>
              </a:solidFill>
              <a:latin typeface="Calibri" panose="020F0502020204030204"/>
              <a:cs typeface="Calibri" panose="020F0502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7892"/>
                </a:solidFill>
                <a:latin typeface="Calibri" panose="020F0502020204030204"/>
                <a:cs typeface="Calibri" panose="020F0502020204030204"/>
              </a:rPr>
              <a:t>Sales by city &amp; region</a:t>
            </a:r>
            <a:endParaRPr sz="1100" b="0" i="0">
              <a:solidFill>
                <a:srgbClr val="6A7892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9253728" y="1920240"/>
            <a:ext cx="2670048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509759" y="2176272"/>
            <a:ext cx="603504" cy="603504"/>
          </a:xfrm>
          <a:prstGeom prst="ellipse">
            <a:avLst/>
          </a:prstGeom>
          <a:solidFill>
            <a:srgbClr val="162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09759" y="2176272"/>
            <a:ext cx="603504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Segoe UI Emoji" panose="020B0502040204020203"/>
                <a:cs typeface="Segoe UI Emoji" panose="020B0502040204020203"/>
              </a:rPr>
              <a:t>👤</a:t>
            </a:r>
            <a:endParaRPr sz="1700" b="0" i="0">
              <a:solidFill>
                <a:srgbClr val="FFFFFF"/>
              </a:solidFill>
              <a:latin typeface="Segoe UI Emoji" panose="020B0502040204020203"/>
              <a:cs typeface="Segoe UI Emoji" panose="020B0502040204020203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509759" y="2880360"/>
            <a:ext cx="2157984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B2640"/>
                </a:solidFill>
                <a:latin typeface="Calibri" panose="020F0502020204030204"/>
                <a:cs typeface="Calibri" panose="020F0502020204030204"/>
              </a:rPr>
              <a:t>Party-wise outstanding</a:t>
            </a:r>
            <a:endParaRPr sz="1350" b="1" i="0">
              <a:solidFill>
                <a:srgbClr val="1B2640"/>
              </a:solidFill>
              <a:latin typeface="Calibri" panose="020F0502020204030204"/>
              <a:cs typeface="Calibri" panose="020F0502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7892"/>
                </a:solidFill>
                <a:latin typeface="Calibri" panose="020F0502020204030204"/>
                <a:cs typeface="Calibri" panose="020F0502020204030204"/>
              </a:rPr>
              <a:t>Balance of every buyer</a:t>
            </a:r>
            <a:endParaRPr sz="1100" b="0" i="0">
              <a:solidFill>
                <a:srgbClr val="6A7892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40080" y="4005072"/>
            <a:ext cx="2670048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96112" y="4261104"/>
            <a:ext cx="603504" cy="603504"/>
          </a:xfrm>
          <a:prstGeom prst="ellipse">
            <a:avLst/>
          </a:prstGeom>
          <a:solidFill>
            <a:srgbClr val="6D4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4261104"/>
            <a:ext cx="603504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Segoe UI Emoji" panose="020B0502040204020203"/>
                <a:cs typeface="Segoe UI Emoji" panose="020B0502040204020203"/>
              </a:rPr>
              <a:t>🧾</a:t>
            </a:r>
            <a:endParaRPr sz="1700" b="0" i="0">
              <a:solidFill>
                <a:srgbClr val="FFFFFF"/>
              </a:solidFill>
              <a:latin typeface="Segoe UI Emoji" panose="020B0502040204020203"/>
              <a:cs typeface="Segoe UI Emoji" panose="020B0502040204020203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96112" y="4965192"/>
            <a:ext cx="2157984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B2640"/>
                </a:solidFill>
                <a:latin typeface="Calibri" panose="020F0502020204030204"/>
                <a:cs typeface="Calibri" panose="020F0502020204030204"/>
              </a:rPr>
              <a:t>Sales register</a:t>
            </a:r>
            <a:endParaRPr sz="1350" b="1" i="0">
              <a:solidFill>
                <a:srgbClr val="1B2640"/>
              </a:solidFill>
              <a:latin typeface="Calibri" panose="020F0502020204030204"/>
              <a:cs typeface="Calibri" panose="020F0502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7892"/>
                </a:solidFill>
                <a:latin typeface="Calibri" panose="020F0502020204030204"/>
                <a:cs typeface="Calibri" panose="020F0502020204030204"/>
              </a:rPr>
              <a:t>Daily / monthly / yearly sales</a:t>
            </a:r>
            <a:endParaRPr sz="1100" b="0" i="0">
              <a:solidFill>
                <a:srgbClr val="6A7892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3511296" y="4005072"/>
            <a:ext cx="2670048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767328" y="4261104"/>
            <a:ext cx="603504" cy="60350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67328" y="4261104"/>
            <a:ext cx="603504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Segoe UI Emoji" panose="020B0502040204020203"/>
                <a:cs typeface="Segoe UI Emoji" panose="020B0502040204020203"/>
              </a:rPr>
              <a:t>🏆</a:t>
            </a:r>
            <a:endParaRPr sz="1700" b="0" i="0">
              <a:solidFill>
                <a:srgbClr val="FFFFFF"/>
              </a:solidFill>
              <a:latin typeface="Segoe UI Emoji" panose="020B0502040204020203"/>
              <a:cs typeface="Segoe UI Emoji" panose="020B0502040204020203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767328" y="4965192"/>
            <a:ext cx="2157984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B2640"/>
                </a:solidFill>
                <a:latin typeface="Calibri" panose="020F0502020204030204"/>
                <a:cs typeface="Calibri" panose="020F0502020204030204"/>
              </a:rPr>
              <a:t>Top parties &amp; top items</a:t>
            </a:r>
            <a:endParaRPr sz="1350" b="1" i="0">
              <a:solidFill>
                <a:srgbClr val="1B2640"/>
              </a:solidFill>
              <a:latin typeface="Calibri" panose="020F0502020204030204"/>
              <a:cs typeface="Calibri" panose="020F0502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7892"/>
                </a:solidFill>
                <a:latin typeface="Calibri" panose="020F0502020204030204"/>
                <a:cs typeface="Calibri" panose="020F0502020204030204"/>
              </a:rPr>
              <a:t>Your best customers &amp; products</a:t>
            </a:r>
            <a:endParaRPr sz="1100" b="0" i="0">
              <a:solidFill>
                <a:srgbClr val="6A7892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6382512" y="4005072"/>
            <a:ext cx="2670048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638544" y="4261104"/>
            <a:ext cx="603504" cy="603504"/>
          </a:xfrm>
          <a:prstGeom prst="ellipse">
            <a:avLst/>
          </a:prstGeom>
          <a:solidFill>
            <a:srgbClr val="0E8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38544" y="4261104"/>
            <a:ext cx="603504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Segoe UI Emoji" panose="020B0502040204020203"/>
                <a:cs typeface="Segoe UI Emoji" panose="020B0502040204020203"/>
              </a:rPr>
              <a:t>🧮</a:t>
            </a:r>
            <a:endParaRPr sz="1700" b="0" i="0">
              <a:solidFill>
                <a:srgbClr val="FFFFFF"/>
              </a:solidFill>
              <a:latin typeface="Segoe UI Emoji" panose="020B0502040204020203"/>
              <a:cs typeface="Segoe UI Emoji" panose="020B0502040204020203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638544" y="4965192"/>
            <a:ext cx="2157984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B2640"/>
                </a:solidFill>
                <a:latin typeface="Calibri" panose="020F0502020204030204"/>
                <a:cs typeface="Calibri" panose="020F0502020204030204"/>
              </a:rPr>
              <a:t>GST report — ready to file</a:t>
            </a:r>
            <a:endParaRPr sz="1350" b="1" i="0">
              <a:solidFill>
                <a:srgbClr val="1B2640"/>
              </a:solidFill>
              <a:latin typeface="Calibri" panose="020F0502020204030204"/>
              <a:cs typeface="Calibri" panose="020F0502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7892"/>
                </a:solidFill>
                <a:latin typeface="Calibri" panose="020F0502020204030204"/>
                <a:cs typeface="Calibri" panose="020F0502020204030204"/>
              </a:rPr>
              <a:t>CGST/SGST/IGST, return-ready</a:t>
            </a:r>
            <a:endParaRPr sz="1100" b="0" i="0">
              <a:solidFill>
                <a:srgbClr val="6A7892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9253728" y="4005072"/>
            <a:ext cx="2670048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509759" y="4261104"/>
            <a:ext cx="603504" cy="603504"/>
          </a:xfrm>
          <a:prstGeom prst="ellipse">
            <a:avLst/>
          </a:prstGeom>
          <a:solidFill>
            <a:srgbClr val="E1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09759" y="4261104"/>
            <a:ext cx="603504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Segoe UI Emoji" panose="020B0502040204020203"/>
                <a:cs typeface="Segoe UI Emoji" panose="020B0502040204020203"/>
              </a:rPr>
              <a:t>🚚</a:t>
            </a:r>
            <a:endParaRPr sz="1700" b="0" i="0">
              <a:solidFill>
                <a:srgbClr val="FFFFFF"/>
              </a:solidFill>
              <a:latin typeface="Segoe UI Emoji" panose="020B0502040204020203"/>
              <a:cs typeface="Segoe UI Emoji" panose="020B0502040204020203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9509759" y="4965192"/>
            <a:ext cx="2157984" cy="4108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B2640"/>
                </a:solidFill>
                <a:latin typeface="Calibri" panose="020F0502020204030204"/>
                <a:cs typeface="Calibri" panose="020F0502020204030204"/>
              </a:rPr>
              <a:t>Aging &amp; on-time </a:t>
            </a:r>
            <a:r>
              <a:rPr lang="en-US" sz="1350" b="1" i="0">
                <a:solidFill>
                  <a:srgbClr val="1B2640"/>
                </a:solidFill>
                <a:latin typeface="Calibri" panose="020F0502020204030204"/>
                <a:cs typeface="Calibri" panose="020F0502020204030204"/>
              </a:rPr>
              <a:t>Payments</a:t>
            </a:r>
            <a:endParaRPr sz="1350" b="1" i="0">
              <a:solidFill>
                <a:srgbClr val="1B2640"/>
              </a:solidFill>
              <a:latin typeface="Calibri" panose="020F0502020204030204"/>
              <a:cs typeface="Calibri" panose="020F0502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7892"/>
                </a:solidFill>
                <a:latin typeface="Calibri" panose="020F0502020204030204"/>
                <a:cs typeface="Calibri" panose="020F0502020204030204"/>
              </a:rPr>
              <a:t>Old dues + delivery performance</a:t>
            </a:r>
            <a:endParaRPr sz="1100" b="0" i="0">
              <a:solidFill>
                <a:srgbClr val="6A7892"/>
              </a:solidFill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800" b="1" i="0">
                <a:solidFill>
                  <a:srgbClr val="16294F"/>
                </a:solidFill>
                <a:latin typeface="Cambria" panose="02040503050406030204"/>
                <a:cs typeface="Cambria" panose="02040503050406030204"/>
              </a:rPr>
              <a:t>Why traders choose Vyapaar Setu</a:t>
            </a:r>
            <a:endParaRPr sz="2800" b="1" i="0">
              <a:solidFill>
                <a:srgbClr val="16294F"/>
              </a:solidFill>
              <a:latin typeface="Cambria" panose="02040503050406030204"/>
              <a:cs typeface="Cambria" panose="02040503050406030204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A7892"/>
                </a:solidFill>
                <a:latin typeface="Calibri" panose="020F0502020204030204"/>
                <a:cs typeface="Calibri" panose="020F0502020204030204"/>
              </a:rPr>
              <a:t>Built for Indian businesses</a:t>
            </a:r>
            <a:endParaRPr sz="1400" b="0" i="0">
              <a:solidFill>
                <a:srgbClr val="6A7892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40080" y="1965960"/>
            <a:ext cx="352044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96112" y="2258568"/>
            <a:ext cx="658368" cy="65836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258568"/>
            <a:ext cx="658368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Segoe UI Emoji" panose="020B0502040204020203"/>
                <a:cs typeface="Segoe UI Emoji" panose="020B0502040204020203"/>
              </a:rPr>
              <a:t>✅</a:t>
            </a:r>
            <a:endParaRPr sz="1800" b="0" i="0">
              <a:solidFill>
                <a:srgbClr val="FFFFFF"/>
              </a:solidFill>
              <a:latin typeface="Segoe UI Emoji" panose="020B0502040204020203"/>
              <a:cs typeface="Segoe UI Emoji" panose="020B0502040204020203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737360" y="2240279"/>
            <a:ext cx="22402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B2640"/>
                </a:solidFill>
                <a:latin typeface="Calibri" panose="020F0502020204030204"/>
                <a:cs typeface="Calibri" panose="020F0502020204030204"/>
              </a:rPr>
              <a:t>Easy</a:t>
            </a:r>
            <a:endParaRPr sz="1500" b="1" i="0">
              <a:solidFill>
                <a:srgbClr val="1B2640"/>
              </a:solidFill>
              <a:latin typeface="Calibri" panose="020F0502020204030204"/>
              <a:cs typeface="Calibri" panose="020F0502020204030204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A7892"/>
                </a:solidFill>
                <a:latin typeface="Calibri" panose="020F0502020204030204"/>
                <a:cs typeface="Calibri" panose="020F0502020204030204"/>
              </a:rPr>
              <a:t>In simple language, no training</a:t>
            </a:r>
            <a:endParaRPr sz="1250" b="0" i="0">
              <a:solidFill>
                <a:srgbClr val="6A7892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480560" y="1965960"/>
            <a:ext cx="352044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736592" y="2258568"/>
            <a:ext cx="658368" cy="658368"/>
          </a:xfrm>
          <a:prstGeom prst="ellipse">
            <a:avLst/>
          </a:prstGeom>
          <a:solidFill>
            <a:srgbClr val="F2A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36592" y="2258568"/>
            <a:ext cx="658368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Segoe UI Emoji" panose="020B0502040204020203"/>
                <a:cs typeface="Segoe UI Emoji" panose="020B0502040204020203"/>
              </a:rPr>
              <a:t>💰</a:t>
            </a:r>
            <a:endParaRPr sz="1800" b="0" i="0">
              <a:solidFill>
                <a:srgbClr val="FFFFFF"/>
              </a:solidFill>
              <a:latin typeface="Segoe UI Emoji" panose="020B0502040204020203"/>
              <a:cs typeface="Segoe UI Emoji" panose="020B0502040204020203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577840" y="2240279"/>
            <a:ext cx="22402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B2640"/>
                </a:solidFill>
                <a:latin typeface="Calibri" panose="020F0502020204030204"/>
                <a:cs typeface="Calibri" panose="020F0502020204030204"/>
              </a:rPr>
              <a:t>Affordable</a:t>
            </a:r>
            <a:endParaRPr sz="1500" b="1" i="0">
              <a:solidFill>
                <a:srgbClr val="1B2640"/>
              </a:solidFill>
              <a:latin typeface="Calibri" panose="020F0502020204030204"/>
              <a:cs typeface="Calibri" panose="020F0502020204030204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A7892"/>
                </a:solidFill>
                <a:latin typeface="Calibri" panose="020F0502020204030204"/>
                <a:cs typeface="Calibri" panose="020F0502020204030204"/>
              </a:rPr>
              <a:t>Fits a small budget</a:t>
            </a:r>
            <a:endParaRPr sz="1250" b="0" i="0">
              <a:solidFill>
                <a:srgbClr val="6A7892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321040" y="1965960"/>
            <a:ext cx="352044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577072" y="2258568"/>
            <a:ext cx="658368" cy="658368"/>
          </a:xfrm>
          <a:prstGeom prst="ellipse">
            <a:avLst/>
          </a:prstGeom>
          <a:solidFill>
            <a:srgbClr val="E1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77072" y="2258568"/>
            <a:ext cx="658368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Segoe UI Emoji" panose="020B0502040204020203"/>
                <a:cs typeface="Segoe UI Emoji" panose="020B0502040204020203"/>
              </a:rPr>
              <a:t>⚡</a:t>
            </a:r>
            <a:endParaRPr sz="1800" b="0" i="0">
              <a:solidFill>
                <a:srgbClr val="FFFFFF"/>
              </a:solidFill>
              <a:latin typeface="Segoe UI Emoji" panose="020B0502040204020203"/>
              <a:cs typeface="Segoe UI Emoji" panose="020B0502040204020203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418319" y="2240279"/>
            <a:ext cx="22402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B2640"/>
                </a:solidFill>
                <a:latin typeface="Calibri" panose="020F0502020204030204"/>
                <a:cs typeface="Calibri" panose="020F0502020204030204"/>
              </a:rPr>
              <a:t>Fast</a:t>
            </a:r>
            <a:endParaRPr sz="1500" b="1" i="0">
              <a:solidFill>
                <a:srgbClr val="1B2640"/>
              </a:solidFill>
              <a:latin typeface="Calibri" panose="020F0502020204030204"/>
              <a:cs typeface="Calibri" panose="020F0502020204030204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A7892"/>
                </a:solidFill>
                <a:latin typeface="Calibri" panose="020F0502020204030204"/>
                <a:cs typeface="Calibri" panose="020F0502020204030204"/>
              </a:rPr>
              <a:t>Bills in minutes, scan to enter</a:t>
            </a:r>
            <a:endParaRPr sz="1250" b="0" i="0">
              <a:solidFill>
                <a:srgbClr val="6A7892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40080" y="3977639"/>
            <a:ext cx="352044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96112" y="4270248"/>
            <a:ext cx="658368" cy="658368"/>
          </a:xfrm>
          <a:prstGeom prst="ellipse">
            <a:avLst/>
          </a:prstGeom>
          <a:solidFill>
            <a:srgbClr val="162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4270248"/>
            <a:ext cx="658368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Segoe UI Emoji" panose="020B0502040204020203"/>
                <a:cs typeface="Segoe UI Emoji" panose="020B0502040204020203"/>
              </a:rPr>
              <a:t>🔒</a:t>
            </a:r>
            <a:endParaRPr sz="1800" b="0" i="0">
              <a:solidFill>
                <a:srgbClr val="FFFFFF"/>
              </a:solidFill>
              <a:latin typeface="Segoe UI Emoji" panose="020B0502040204020203"/>
              <a:cs typeface="Segoe UI Emoji" panose="020B0502040204020203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737360" y="4251959"/>
            <a:ext cx="22402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B2640"/>
                </a:solidFill>
                <a:latin typeface="Calibri" panose="020F0502020204030204"/>
                <a:cs typeface="Calibri" panose="020F0502020204030204"/>
              </a:rPr>
              <a:t>Safe</a:t>
            </a:r>
            <a:endParaRPr sz="1500" b="1" i="0">
              <a:solidFill>
                <a:srgbClr val="1B2640"/>
              </a:solidFill>
              <a:latin typeface="Calibri" panose="020F0502020204030204"/>
              <a:cs typeface="Calibri" panose="020F0502020204030204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A7892"/>
                </a:solidFill>
                <a:latin typeface="Calibri" panose="020F0502020204030204"/>
                <a:cs typeface="Calibri" panose="020F0502020204030204"/>
              </a:rPr>
              <a:t>Your data is only yours</a:t>
            </a:r>
            <a:endParaRPr sz="1250" b="0" i="0">
              <a:solidFill>
                <a:srgbClr val="6A7892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4480560" y="3977639"/>
            <a:ext cx="352044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736592" y="4270248"/>
            <a:ext cx="658368" cy="658368"/>
          </a:xfrm>
          <a:prstGeom prst="ellipse">
            <a:avLst/>
          </a:prstGeom>
          <a:solidFill>
            <a:srgbClr val="0E8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36592" y="4270248"/>
            <a:ext cx="658368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Segoe UI Emoji" panose="020B0502040204020203"/>
                <a:cs typeface="Segoe UI Emoji" panose="020B0502040204020203"/>
              </a:rPr>
              <a:t>🎧</a:t>
            </a:r>
            <a:endParaRPr sz="1800" b="0" i="0">
              <a:solidFill>
                <a:srgbClr val="FFFFFF"/>
              </a:solidFill>
              <a:latin typeface="Segoe UI Emoji" panose="020B0502040204020203"/>
              <a:cs typeface="Segoe UI Emoji" panose="020B0502040204020203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577840" y="4251959"/>
            <a:ext cx="22402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B2640"/>
                </a:solidFill>
                <a:latin typeface="Calibri" panose="020F0502020204030204"/>
                <a:cs typeface="Calibri" panose="020F0502020204030204"/>
              </a:rPr>
              <a:t>Support</a:t>
            </a:r>
            <a:endParaRPr sz="1500" b="1" i="0">
              <a:solidFill>
                <a:srgbClr val="1B2640"/>
              </a:solidFill>
              <a:latin typeface="Calibri" panose="020F0502020204030204"/>
              <a:cs typeface="Calibri" panose="020F0502020204030204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A7892"/>
                </a:solidFill>
                <a:latin typeface="Calibri" panose="020F0502020204030204"/>
                <a:cs typeface="Calibri" panose="020F0502020204030204"/>
              </a:rPr>
              <a:t>Help on WhatsApp &amp; phone</a:t>
            </a:r>
            <a:endParaRPr sz="1250" b="0" i="0">
              <a:solidFill>
                <a:srgbClr val="6A7892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8321040" y="3977639"/>
            <a:ext cx="352044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577072" y="4270248"/>
            <a:ext cx="658368" cy="658368"/>
          </a:xfrm>
          <a:prstGeom prst="ellipse">
            <a:avLst/>
          </a:prstGeom>
          <a:solidFill>
            <a:srgbClr val="6D4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77072" y="4270248"/>
            <a:ext cx="658368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Segoe UI Emoji" panose="020B0502040204020203"/>
                <a:cs typeface="Segoe UI Emoji" panose="020B0502040204020203"/>
              </a:rPr>
              <a:t>🇮🇳</a:t>
            </a:r>
            <a:endParaRPr sz="1800" b="0" i="0">
              <a:solidFill>
                <a:srgbClr val="FFFFFF"/>
              </a:solidFill>
              <a:latin typeface="Segoe UI Emoji" panose="020B0502040204020203"/>
              <a:cs typeface="Segoe UI Emoji" panose="020B0502040204020203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418319" y="4251959"/>
            <a:ext cx="22402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B2640"/>
                </a:solidFill>
                <a:latin typeface="Calibri" panose="020F0502020204030204"/>
                <a:cs typeface="Calibri" panose="020F0502020204030204"/>
              </a:rPr>
              <a:t>Made in India</a:t>
            </a:r>
            <a:endParaRPr sz="1500" b="1" i="0">
              <a:solidFill>
                <a:srgbClr val="1B2640"/>
              </a:solidFill>
              <a:latin typeface="Calibri" panose="020F0502020204030204"/>
              <a:cs typeface="Calibri" panose="020F0502020204030204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A7892"/>
                </a:solidFill>
                <a:latin typeface="Calibri" panose="020F0502020204030204"/>
                <a:cs typeface="Calibri" panose="020F0502020204030204"/>
              </a:rPr>
              <a:t>Our team, our vision</a:t>
            </a:r>
            <a:endParaRPr sz="1250" b="0" i="0">
              <a:solidFill>
                <a:srgbClr val="6A7892"/>
              </a:solidFill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3945" y="2011680"/>
            <a:ext cx="10058400" cy="2560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4400" b="1" i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15-Day Free Trial</a:t>
            </a:r>
            <a:endParaRPr sz="4400" b="1" i="0">
              <a:solidFill>
                <a:srgbClr val="FFFFFF"/>
              </a:solidFill>
              <a:latin typeface="Cambria" panose="02040503050406030204"/>
              <a:cs typeface="Cambria" panose="02040503050406030204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CFE0F5"/>
                </a:solidFill>
                <a:latin typeface="Calibri" panose="020F0502020204030204"/>
                <a:cs typeface="Calibri" panose="020F0502020204030204"/>
              </a:rPr>
              <a:t>No risk. Try it first, then decide.</a:t>
            </a:r>
            <a:endParaRPr sz="1800" b="0" i="0">
              <a:solidFill>
                <a:srgbClr val="CFE0F5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718304" y="4572000"/>
            <a:ext cx="2743200" cy="822960"/>
          </a:xfrm>
          <a:prstGeom prst="roundRect">
            <a:avLst>
              <a:gd name="adj" fmla="val 8000"/>
            </a:avLst>
          </a:prstGeom>
          <a:solidFill>
            <a:srgbClr val="C9A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18304" y="4572000"/>
            <a:ext cx="27432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E1B36"/>
                </a:solidFill>
                <a:latin typeface="Calibri" panose="020F0502020204030204"/>
                <a:cs typeface="Calibri" panose="020F0502020204030204"/>
              </a:rPr>
              <a:t>Start Today</a:t>
            </a:r>
            <a:endParaRPr sz="1800" b="1" i="0">
              <a:solidFill>
                <a:srgbClr val="0E1B36"/>
              </a:solidFill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njaninex-logo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1142593" cy="91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28800" y="731520"/>
            <a:ext cx="7315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Vyapaar Setu</a:t>
            </a:r>
            <a:endParaRPr sz="2800" b="1" i="0">
              <a:solidFill>
                <a:srgbClr val="FFFFFF"/>
              </a:solidFill>
              <a:latin typeface="Cambria" panose="02040503050406030204"/>
              <a:cs typeface="Cambria" panose="02040503050406030204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14A"/>
                </a:solidFill>
                <a:latin typeface="Calibri" panose="020F0502020204030204"/>
                <a:cs typeface="Calibri" panose="020F0502020204030204"/>
              </a:rPr>
              <a:t>an Anjaninex product</a:t>
            </a:r>
            <a:endParaRPr sz="1300" b="1" i="0">
              <a:solidFill>
                <a:srgbClr val="C9A14A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6949440" cy="3840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 b="1" i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Get started today</a:t>
            </a:r>
            <a:endParaRPr sz="2200" b="1" i="0">
              <a:solidFill>
                <a:srgbClr val="FFFFFF"/>
              </a:solidFill>
              <a:latin typeface="Cambria" panose="02040503050406030204"/>
              <a:cs typeface="Cambria" panose="02040503050406030204"/>
            </a:endParaRP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CFE0F5"/>
                </a:solidFill>
                <a:latin typeface="Calibri" panose="020F0502020204030204"/>
                <a:cs typeface="Calibri" panose="020F0502020204030204"/>
              </a:rPr>
              <a:t>Kapil Sharma   </a:t>
            </a:r>
            <a:r>
              <a:rPr sz="1500" b="1" i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+91 96642 50416</a:t>
            </a:r>
            <a:endParaRPr sz="1500" b="1" i="0">
              <a:solidFill>
                <a:srgbClr val="FFFFFF"/>
              </a:solidFill>
              <a:latin typeface="Calibri" panose="020F0502020204030204"/>
              <a:cs typeface="Calibri" panose="020F0502020204030204"/>
            </a:endParaRP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CFE0F5"/>
                </a:solidFill>
                <a:latin typeface="Calibri" panose="020F0502020204030204"/>
                <a:cs typeface="Calibri" panose="020F0502020204030204"/>
              </a:rPr>
              <a:t>Jitesh Yadav   </a:t>
            </a:r>
            <a:r>
              <a:rPr sz="1500" b="1" i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+91 95115 40583</a:t>
            </a:r>
            <a:endParaRPr sz="1500" b="1" i="0">
              <a:solidFill>
                <a:srgbClr val="FFFFFF"/>
              </a:solidFill>
              <a:latin typeface="Calibri" panose="020F0502020204030204"/>
              <a:cs typeface="Calibri" panose="020F0502020204030204"/>
            </a:endParaRP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CFE0F5"/>
                </a:solidFill>
                <a:latin typeface="Calibri" panose="020F0502020204030204"/>
                <a:cs typeface="Calibri" panose="020F0502020204030204"/>
              </a:rPr>
              <a:t>Email   </a:t>
            </a:r>
            <a:r>
              <a:rPr sz="1500" b="1" i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support@anjaninex.com</a:t>
            </a:r>
            <a:endParaRPr sz="1500" b="1" i="0">
              <a:solidFill>
                <a:srgbClr val="FFFFFF"/>
              </a:solidFill>
              <a:latin typeface="Calibri" panose="020F0502020204030204"/>
              <a:cs typeface="Calibri" panose="020F0502020204030204"/>
            </a:endParaRP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CFE0F5"/>
                </a:solidFill>
                <a:latin typeface="Calibri" panose="020F0502020204030204"/>
                <a:cs typeface="Calibri" panose="020F0502020204030204"/>
              </a:rPr>
              <a:t>Web   </a:t>
            </a:r>
            <a:r>
              <a:rPr sz="1500" b="1" i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vyaparsetu.anjaninex.com</a:t>
            </a:r>
            <a:endParaRPr sz="1500" b="1" i="0">
              <a:solidFill>
                <a:srgbClr val="FFFFFF"/>
              </a:solidFill>
              <a:latin typeface="Calibri" panose="020F0502020204030204"/>
              <a:cs typeface="Calibri" panose="020F0502020204030204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CFE0F5"/>
                </a:solidFill>
                <a:latin typeface="Calibri" panose="020F0502020204030204"/>
                <a:cs typeface="Calibri" panose="020F0502020204030204"/>
              </a:rPr>
              <a:t>Ramtalai, Next to DPS School, Surajpol Gate, Gumanpura, Kota, Rajasthan</a:t>
            </a:r>
            <a:endParaRPr sz="1250" b="0" i="0">
              <a:solidFill>
                <a:srgbClr val="CFE0F5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412480" y="2286000"/>
            <a:ext cx="310896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vyaparsetu-q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2560320"/>
            <a:ext cx="2560320" cy="2560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412480" y="544068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FE0F5"/>
                </a:solidFill>
                <a:latin typeface="Calibri" panose="020F0502020204030204"/>
                <a:cs typeface="Calibri" panose="020F0502020204030204"/>
              </a:rPr>
              <a:t>Scan → vyaparsetu.anjaninex.com</a:t>
            </a:r>
            <a:endParaRPr sz="1200" b="0" i="0">
              <a:solidFill>
                <a:srgbClr val="CFE0F5"/>
              </a:solidFill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2662</Words>
  <Application>WPS Presentation</Application>
  <PresentationFormat>On-screen Show (4:3)</PresentationFormat>
  <Paragraphs>232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1" baseType="lpstr">
      <vt:lpstr>Arial</vt:lpstr>
      <vt:lpstr>SimSun</vt:lpstr>
      <vt:lpstr>Wingdings</vt:lpstr>
      <vt:lpstr>Arial</vt:lpstr>
      <vt:lpstr>Cambria</vt:lpstr>
      <vt:lpstr>Calibri</vt:lpstr>
      <vt:lpstr>Segoe UI Emoji</vt:lpstr>
      <vt:lpstr>Microsoft YaHei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ryecc yadav</cp:lastModifiedBy>
  <cp:revision>3</cp:revision>
  <dcterms:created xsi:type="dcterms:W3CDTF">2013-01-27T09:14:00Z</dcterms:created>
  <dcterms:modified xsi:type="dcterms:W3CDTF">2026-07-02T04:48:19Z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D90C50B695CE43149DCBB465D3CEEE80_12</vt:lpwstr>
  </property>
  <property fmtid="{D5CDD505-2E9C-101B-9397-08002B2CF9AE}" pid="3" name="KSOProductBuildVer">
    <vt:lpwstr>1033-12.1.0.26880</vt:lpwstr>
  </property>
</Properties>
</file>